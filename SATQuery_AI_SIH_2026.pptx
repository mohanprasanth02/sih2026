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6.png"/><Relationship Id="rId3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24.png"/><Relationship Id="rId1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8.png"/><Relationship Id="rId7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.png"/><Relationship Id="rId3" Type="http://schemas.openxmlformats.org/officeDocument/2006/relationships/image" Target="../media/image20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8.png"/><Relationship Id="rId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56777" y="851522"/>
            <a:ext cx="4638605" cy="5154968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854889" y="1715878"/>
            <a:ext cx="3203511" cy="3426238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306646" y="660045"/>
            <a:ext cx="841248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endParaRPr sz="1200"/>
          </a:p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31286" y="-526758"/>
            <a:ext cx="10363200" cy="2076450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92246" y="2087880"/>
            <a:ext cx="5802630" cy="471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endParaRPr sz="1200"/>
          </a:p>
          <a:p>
            <a:pPr marL="434362" lvl="1" indent="-217181" algn="just">
              <a:lnSpc>
                <a:spcPts val="576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</a:p>
          <a:p>
            <a:pPr marL="434362" lvl="1" indent="-217181" algn="just">
              <a:lnSpc>
                <a:spcPts val="576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</a:p>
          <a:p>
            <a:pPr marL="434362" lvl="1" indent="-217181" algn="just">
              <a:lnSpc>
                <a:spcPts val="576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</a:p>
          <a:p>
            <a:pPr marL="434362" lvl="1" indent="-217181" algn="just">
              <a:lnSpc>
                <a:spcPts val="576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Software/Hardware</a:t>
            </a:r>
          </a:p>
          <a:p>
            <a:pPr marL="434362" lvl="1" indent="-217181" algn="just">
              <a:lnSpc>
                <a:spcPts val="576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marL="434362" lvl="1" indent="-217181" algn="just">
              <a:lnSpc>
                <a:spcPts val="5760"/>
              </a:lnSpc>
              <a:buFont typeface="Arial"/>
              <a:buChar char="•"/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80086" y="1499"/>
            <a:ext cx="2249849" cy="1062336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3B5D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900" b="1">
                <a:solidFill>
                  <a:srgbClr val="148A83"/>
                </a:solidFill>
                <a:latin typeface="Segoe UI"/>
              </a:defRPr>
            </a:pPr>
            <a:r>
              <a:t>ISRO · DEPARTMENT OF SPACE · THEME: SPACE TECHNOLOGY · SOFTWARE EDITION</a:t>
            </a:r>
          </a:p>
        </p:txBody>
      </p:sp>
      <p:pic>
        <p:nvPicPr>
          <p:cNvPr id="6" name="Picture 5" descr="sih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09728"/>
            <a:ext cx="2011680" cy="676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05156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23B5D"/>
                </a:solidFill>
                <a:latin typeface="Segoe UI"/>
              </a:defRPr>
            </a:pPr>
            <a:r>
              <a:t>SATQUERY AI</a:t>
            </a:r>
          </a:p>
          <a:p>
            <a:pPr>
              <a:spcBef>
                <a:spcPts val="400"/>
              </a:spcBef>
              <a:defRPr sz="1200" b="1">
                <a:solidFill>
                  <a:srgbClr val="148A83"/>
                </a:solidFill>
                <a:latin typeface="Segoe UI"/>
              </a:defRPr>
            </a:pPr>
            <a:r>
              <a:t>An Interactive Vision-Language Assistant for Multimodal Remote Sensing Image Analysis through Text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78608"/>
            <a:ext cx="1828800" cy="32918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NATURAL-LANGUAGE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578608"/>
            <a:ext cx="1828800" cy="329184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48A83"/>
                </a:solidFill>
                <a:latin typeface="Segoe UI"/>
              </a:defRPr>
            </a:pPr>
            <a:r>
              <a:t>MULTIMODAL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78608"/>
            <a:ext cx="1828800" cy="329184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3D9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3D9B65"/>
                </a:solidFill>
                <a:latin typeface="Segoe UI"/>
              </a:defRPr>
            </a:pPr>
            <a:r>
              <a:t>AGENTIC AI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35808"/>
            <a:ext cx="5577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 b="1">
                <a:solidFill>
                  <a:srgbClr val="123B5D"/>
                </a:solidFill>
                <a:latin typeface="Segoe UI"/>
              </a:rPr>
              <a:t>Problem Statement ID: </a:t>
            </a:r>
            <a:r>
              <a:rPr sz="900">
                <a:solidFill>
                  <a:srgbClr val="172027"/>
                </a:solidFill>
                <a:latin typeface="Segoe UI"/>
              </a:rPr>
              <a:t>26167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23B5D"/>
                </a:solidFill>
                <a:latin typeface="Segoe UI"/>
              </a:rPr>
              <a:t>Problem Statement Title: </a:t>
            </a:r>
            <a:r>
              <a:rPr sz="900">
                <a:solidFill>
                  <a:srgbClr val="172027"/>
                </a:solidFill>
                <a:latin typeface="Segoe UI"/>
              </a:rPr>
              <a:t>SatQuery AI - An Interactive Vision-Language Assistant for Multimodal Remote Sensing Image Analysis through Text Queries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23B5D"/>
                </a:solidFill>
                <a:latin typeface="Segoe UI"/>
              </a:rPr>
              <a:t>Organization: </a:t>
            </a:r>
            <a:r>
              <a:rPr sz="900">
                <a:solidFill>
                  <a:srgbClr val="172027"/>
                </a:solidFill>
                <a:latin typeface="Segoe UI"/>
              </a:rPr>
              <a:t>Indian Space Research Organisation (ISRO)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23B5D"/>
                </a:solidFill>
                <a:latin typeface="Segoe UI"/>
              </a:rPr>
              <a:t>Department: </a:t>
            </a:r>
            <a:r>
              <a:rPr sz="900">
                <a:solidFill>
                  <a:srgbClr val="172027"/>
                </a:solidFill>
                <a:latin typeface="Segoe UI"/>
              </a:rPr>
              <a:t>Department of Space / Indian Space Research Organisation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23B5D"/>
                </a:solidFill>
                <a:latin typeface="Segoe UI"/>
              </a:rPr>
              <a:t>Theme &amp; Category: </a:t>
            </a:r>
            <a:r>
              <a:rPr sz="900">
                <a:solidFill>
                  <a:srgbClr val="172027"/>
                </a:solidFill>
                <a:latin typeface="Segoe UI"/>
              </a:rPr>
              <a:t>Space Technology · Software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23B5D"/>
                </a:solidFill>
                <a:latin typeface="Segoe UI"/>
              </a:rPr>
              <a:t>Team Name &amp; ID: </a:t>
            </a:r>
            <a:r>
              <a:rPr sz="900">
                <a:solidFill>
                  <a:srgbClr val="172027"/>
                </a:solidFill>
                <a:latin typeface="Segoe UI"/>
              </a:rPr>
              <a:t>Team SATQuery · SIH2026-26167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051560"/>
            <a:ext cx="4937760" cy="4910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reykjavik_search_result_17890546135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188720"/>
            <a:ext cx="4663440" cy="2514600"/>
          </a:xfrm>
          <a:prstGeom prst="rect">
            <a:avLst/>
          </a:prstGeom>
        </p:spPr>
      </p:pic>
      <p:pic>
        <p:nvPicPr>
          <p:cNvPr id="15" name="Picture 14" descr="ico_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40480"/>
            <a:ext cx="402336" cy="402336"/>
          </a:xfrm>
          <a:prstGeom prst="rect">
            <a:avLst/>
          </a:prstGeom>
        </p:spPr>
      </p:pic>
      <p:pic>
        <p:nvPicPr>
          <p:cNvPr id="16" name="Picture 15" descr="ico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840480"/>
            <a:ext cx="402336" cy="402336"/>
          </a:xfrm>
          <a:prstGeom prst="rect">
            <a:avLst/>
          </a:prstGeom>
        </p:spPr>
      </p:pic>
      <p:pic>
        <p:nvPicPr>
          <p:cNvPr id="17" name="Picture 16" descr="ico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840480"/>
            <a:ext cx="402336" cy="402336"/>
          </a:xfrm>
          <a:prstGeom prst="rect">
            <a:avLst/>
          </a:prstGeom>
        </p:spPr>
      </p:pic>
      <p:pic>
        <p:nvPicPr>
          <p:cNvPr id="18" name="Picture 17" descr="ico_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0" y="3840480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35240" y="385876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85876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858768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29768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4727C"/>
                </a:solidFill>
                <a:latin typeface="Segoe UI"/>
              </a:defRPr>
            </a:pPr>
            <a:r>
              <a:t>SATELLITE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9768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4727C"/>
                </a:solidFill>
                <a:latin typeface="Segoe UI"/>
              </a:defRPr>
            </a:pPr>
            <a:r>
              <a:t>EARTH RASTER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29768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4727C"/>
                </a:solidFill>
                <a:latin typeface="Segoe UI"/>
              </a:defRPr>
            </a:pPr>
            <a:r>
              <a:t>MULTIMODAL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297680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64727C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4709160"/>
            <a:ext cx="4663440" cy="105156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48A83"/>
                </a:solidFill>
                <a:latin typeface="Segoe UI"/>
              </a:rPr>
              <a:t>“From Satellite Data → Intelligent Evidence”
</a:t>
            </a:r>
            <a:r>
              <a:rPr sz="850">
                <a:solidFill>
                  <a:srgbClr val="172027"/>
                </a:solidFill>
                <a:latin typeface="Segoe UI"/>
              </a:rPr>
              <a:t>Verified Production System · SegFormer · BLIP-2 · CDVQA · Optical + SAR 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37960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27C"/>
                </a:solidFill>
                <a:latin typeface="Segoe UI"/>
              </a:defRPr>
            </a:pPr>
            <a:r>
              <a:t>SATQUERY AI  •  SIH 2026  •  PS 26167  •  ISRO  •  SPACE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1828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Team SATQuery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3B5D"/>
                </a:solidFill>
                <a:latin typeface="Segoe UI"/>
              </a:defRPr>
            </a:pPr>
            <a:r>
              <a:t>SATQUERY AI — FROM COMPLEX GIS TO NATURAL-LANGUAGE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27C"/>
                </a:solidFill>
                <a:latin typeface="Segoe UI"/>
              </a:defRPr>
            </a:pPr>
            <a:r>
              <a:t>SATQUERY AI  •  SIH 2026  •  PS 26167  •  ISRO  •  SPACE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3520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o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152144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1097280"/>
            <a:ext cx="28437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3B5D"/>
                </a:solidFill>
                <a:latin typeface="Segoe UI"/>
              </a:defRPr>
            </a:pPr>
            <a:r>
              <a:t>FRAGMENTED TOOLS</a:t>
            </a:r>
          </a:p>
          <a:p>
            <a:pPr>
              <a:defRPr sz="800" b="1">
                <a:solidFill>
                  <a:srgbClr val="E98A3A"/>
                </a:solidFill>
                <a:latin typeface="Segoe UI"/>
              </a:defRPr>
            </a:pPr>
            <a:r>
              <a:t>Isolated specialist workflows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Land cover, change detection, VQA &amp; SAR are siloed in disparate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005840"/>
            <a:ext cx="3520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o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152144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73752" y="1097280"/>
            <a:ext cx="28437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3B5D"/>
                </a:solidFill>
                <a:latin typeface="Segoe UI"/>
              </a:defRPr>
            </a:pPr>
            <a:r>
              <a:t>EXPERT DEPENDENCY</a:t>
            </a:r>
          </a:p>
          <a:p>
            <a:pPr>
              <a:defRPr sz="800" b="1">
                <a:solidFill>
                  <a:srgbClr val="E98A3A"/>
                </a:solidFill>
                <a:latin typeface="Segoe UI"/>
              </a:defRPr>
            </a:pPr>
            <a:r>
              <a:t>High technical barrier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Requires manual parameter tuning: bands, radiometric calibration &amp; CRS transforms.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005840"/>
            <a:ext cx="3520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_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152144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13648" y="1097280"/>
            <a:ext cx="28437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3B5D"/>
                </a:solidFill>
                <a:latin typeface="Segoe UI"/>
              </a:defRPr>
            </a:pPr>
            <a:r>
              <a:rPr dirty="0"/>
              <a:t>MULTIMODAL COMPLEXITY</a:t>
            </a:r>
          </a:p>
          <a:p>
            <a:pPr>
              <a:defRPr sz="800" b="1">
                <a:solidFill>
                  <a:srgbClr val="E98A3A"/>
                </a:solidFill>
                <a:latin typeface="Segoe UI"/>
              </a:defRPr>
            </a:pPr>
            <a:r>
              <a:rPr dirty="0"/>
              <a:t>Data integration disconnect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rPr dirty="0"/>
              <a:t>Single optical images fail in clouds; optical, SAR &amp; temporal passes remain uncoupled.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11094415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2788920"/>
            <a:ext cx="1417320" cy="1783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2898648"/>
            <a:ext cx="12710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23B5D"/>
                </a:solidFill>
                <a:latin typeface="Segoe UI"/>
              </a:defRPr>
            </a:pPr>
            <a:r>
              <a:t>USER QUESTION</a:t>
            </a:r>
          </a:p>
          <a:p>
            <a:pPr algn="ctr">
              <a:spcBef>
                <a:spcPts val="800"/>
              </a:spcBef>
              <a:defRPr sz="750">
                <a:solidFill>
                  <a:srgbClr val="172027"/>
                </a:solidFill>
                <a:latin typeface="Segoe UI"/>
              </a:defRPr>
            </a:pPr>
            <a:r>
              <a:t>“What changed between</a:t>
            </a:r>
            <a:br/>
            <a:r>
              <a:t>these two passes?”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42900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95728" y="2788920"/>
            <a:ext cx="1417320" cy="178308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2898648"/>
            <a:ext cx="12710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48A83"/>
                </a:solidFill>
                <a:latin typeface="Segoe UI"/>
              </a:defRPr>
            </a:pPr>
            <a:r>
              <a:t>AGENTIC CONTROLLER</a:t>
            </a:r>
          </a:p>
          <a:p>
            <a:pPr algn="ctr">
              <a:spcBef>
                <a:spcPts val="800"/>
              </a:spcBef>
              <a:defRPr sz="750">
                <a:solidFill>
                  <a:srgbClr val="172027"/>
                </a:solidFill>
                <a:latin typeface="Segoe UI"/>
              </a:defRPr>
            </a:pPr>
            <a:r>
              <a:t>Autonomous intent &amp;</a:t>
            </a:r>
            <a:br/>
            <a:r>
              <a:t>task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342900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14216" y="2788920"/>
            <a:ext cx="1417320" cy="178308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87368" y="2898648"/>
            <a:ext cx="12710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48A83"/>
                </a:solidFill>
                <a:latin typeface="Segoe UI"/>
              </a:defRPr>
            </a:pPr>
            <a:r>
              <a:t>SPECIALIST AI</a:t>
            </a:r>
          </a:p>
          <a:p>
            <a:pPr algn="ctr">
              <a:spcBef>
                <a:spcPts val="800"/>
              </a:spcBef>
              <a:defRPr sz="750">
                <a:solidFill>
                  <a:srgbClr val="172027"/>
                </a:solidFill>
                <a:latin typeface="Segoe UI"/>
              </a:defRPr>
            </a:pPr>
            <a:r>
              <a:t>SegFormer · CDVQA</a:t>
            </a:r>
            <a:br/>
            <a:r>
              <a:t>Optical + SAR Fusion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3429000"/>
            <a:ext cx="2011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2704" y="2788920"/>
            <a:ext cx="1417320" cy="1783080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3D9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05856" y="2898648"/>
            <a:ext cx="12710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3D9B65"/>
                </a:solidFill>
                <a:latin typeface="Segoe UI"/>
              </a:defRPr>
            </a:pPr>
            <a:r>
              <a:t>EVIDENCE OUTPUT</a:t>
            </a:r>
          </a:p>
          <a:p>
            <a:pPr algn="ctr">
              <a:spcBef>
                <a:spcPts val="800"/>
              </a:spcBef>
              <a:defRPr sz="750">
                <a:solidFill>
                  <a:srgbClr val="172027"/>
                </a:solidFill>
                <a:latin typeface="Segoe UI"/>
              </a:defRPr>
            </a:pPr>
            <a:r>
              <a:t>Pixel Masks · Hectares</a:t>
            </a:r>
            <a:br/>
            <a:r>
              <a:t>Confidence &amp; Audit Trace</a:t>
            </a:r>
          </a:p>
        </p:txBody>
      </p:sp>
      <p:pic>
        <p:nvPicPr>
          <p:cNvPr id="28" name="Picture 27" descr="analysis_observation_card_17890528883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651760"/>
            <a:ext cx="4343400" cy="214884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48640" y="5074920"/>
            <a:ext cx="26060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5184648"/>
            <a:ext cx="411480" cy="320040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2978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23B5D"/>
                </a:solidFill>
                <a:latin typeface="Segoe UI"/>
              </a:defRPr>
            </a:pPr>
            <a:r>
              <a:t>NATURAL LANGUAGE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Plain text query replacing GIS commands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74136" y="5074920"/>
            <a:ext cx="26060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465576" y="5184648"/>
            <a:ext cx="411480" cy="320040"/>
          </a:xfrm>
          <a:prstGeom prst="roundRect">
            <a:avLst/>
          </a:prstGeom>
          <a:solidFill>
            <a:srgbClr val="14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2776" y="512978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48A83"/>
                </a:solidFill>
                <a:latin typeface="Segoe UI"/>
              </a:defRPr>
            </a:pPr>
            <a:r>
              <a:t>AGENTIC ROUTING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Autonomous model and tool selection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5074920"/>
            <a:ext cx="26060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291072" y="5184648"/>
            <a:ext cx="411480" cy="320040"/>
          </a:xfrm>
          <a:prstGeom prst="roundRect">
            <a:avLst/>
          </a:prstGeom>
          <a:solidFill>
            <a:srgbClr val="14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512978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48A83"/>
                </a:solidFill>
                <a:latin typeface="Segoe UI"/>
              </a:defRPr>
            </a:pPr>
            <a:r>
              <a:t>OPTICAL + SAR FUSION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Multi-sensor day/night &amp; cloud penetration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5128" y="5074920"/>
            <a:ext cx="26060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9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116568" y="5184648"/>
            <a:ext cx="411480" cy="320040"/>
          </a:xfrm>
          <a:prstGeom prst="roundRect">
            <a:avLst/>
          </a:prstGeom>
          <a:solidFill>
            <a:srgbClr val="3D9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3768" y="512978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D9B65"/>
                </a:solidFill>
                <a:latin typeface="Segoe UI"/>
              </a:defRPr>
            </a:pPr>
            <a:r>
              <a:t>BI-TEMPORAL REASONING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Quantitative transition matrices &amp; CDVQA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943600"/>
            <a:ext cx="11094415" cy="502920"/>
          </a:xfrm>
          <a:prstGeom prst="roundRect">
            <a:avLst/>
          </a:prstGeom>
          <a:solidFill>
            <a:srgbClr val="123B5D"/>
          </a:solidFill>
          <a:ln w="1905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9618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98A3A"/>
                </a:solidFill>
                <a:latin typeface="Segoe UI"/>
              </a:rPr>
              <a:t>WHY SATQUERY?  </a:t>
            </a:r>
            <a:r>
              <a:rPr sz="1000" b="1">
                <a:solidFill>
                  <a:srgbClr val="FFFFFF"/>
                </a:solidFill>
                <a:latin typeface="Segoe UI"/>
              </a:rPr>
              <a:t>“One interface. Multiple specialist models. Evidence-grounded answers.”</a:t>
            </a:r>
          </a:p>
        </p:txBody>
      </p:sp>
      <p:sp>
        <p:nvSpPr>
          <p:cNvPr id="44" name="Freeform 14">
            <a:extLst>
              <a:ext uri="{FF2B5EF4-FFF2-40B4-BE49-F238E27FC236}">
                <a16:creationId xmlns:a16="http://schemas.microsoft.com/office/drawing/2014/main" id="{666D32C6-556C-33B5-4DD1-FEF412418917}"/>
              </a:ext>
            </a:extLst>
          </p:cNvPr>
          <p:cNvSpPr/>
          <p:nvPr/>
        </p:nvSpPr>
        <p:spPr>
          <a:xfrm>
            <a:off x="10333703" y="91440"/>
            <a:ext cx="1434920" cy="764945"/>
          </a:xfrm>
          <a:custGeom>
            <a:avLst/>
            <a:gdLst/>
            <a:ahLst/>
            <a:cxnLst/>
            <a:rect l="l" t="t" r="r" b="b"/>
            <a:pathLst>
              <a:path w="4499737" h="2124710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1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1828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Team SATQuery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3B5D"/>
                </a:solidFill>
                <a:latin typeface="Segoe UI"/>
              </a:defRPr>
            </a:pPr>
            <a:r>
              <a:t>HOW SATQUERY AI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27C"/>
                </a:solidFill>
                <a:latin typeface="Segoe UI"/>
              </a:defRPr>
            </a:pPr>
            <a:r>
              <a:t>SATQUERY AI  •  SIH 2026  •  PS 26167  •  ISRO  •  SPACE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38988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042416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27C"/>
                </a:solidFill>
                <a:latin typeface="Segoe UI"/>
              </a:defRPr>
            </a:pPr>
            <a:r>
              <a:t>01</a:t>
            </a:r>
          </a:p>
        </p:txBody>
      </p:sp>
      <p:pic>
        <p:nvPicPr>
          <p:cNvPr id="9" name="Picture 8" descr="ico_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261872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1700784"/>
            <a:ext cx="12984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SATELLITE INPUT</a:t>
            </a:r>
          </a:p>
          <a:p>
            <a:pPr algn="ctr">
              <a:defRPr sz="650">
                <a:solidFill>
                  <a:srgbClr val="172027"/>
                </a:solidFill>
                <a:latin typeface="Segoe UI"/>
              </a:defRPr>
            </a:pPr>
            <a:r>
              <a:t>GeoTIFF · Sentinel-1/2</a:t>
            </a:r>
            <a:br/>
            <a:r>
              <a:t>Multi-Band Imagery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554480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57984" y="1005840"/>
            <a:ext cx="138988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57984" y="1042416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27C"/>
                </a:solidFill>
                <a:latin typeface="Segoe UI"/>
              </a:defRPr>
            </a:pPr>
            <a:r>
              <a:t>02</a:t>
            </a:r>
          </a:p>
        </p:txBody>
      </p:sp>
      <p:pic>
        <p:nvPicPr>
          <p:cNvPr id="14" name="Picture 13" descr="ico_m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616" y="1261872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03704" y="1700784"/>
            <a:ext cx="12984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QUERY PARSING</a:t>
            </a:r>
          </a:p>
          <a:p>
            <a:pPr algn="ctr">
              <a:defRPr sz="650">
                <a:solidFill>
                  <a:srgbClr val="172027"/>
                </a:solidFill>
                <a:latin typeface="Segoe UI"/>
              </a:defRPr>
            </a:pPr>
            <a:r>
              <a:t>Intent classification</a:t>
            </a:r>
            <a:br/>
            <a:r>
              <a:t>Task identification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554480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67328" y="1005840"/>
            <a:ext cx="138988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67328" y="1042416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27C"/>
                </a:solidFill>
                <a:latin typeface="Segoe UI"/>
              </a:defRPr>
            </a:pPr>
            <a:r>
              <a:t>03</a:t>
            </a:r>
          </a:p>
        </p:txBody>
      </p:sp>
      <p:pic>
        <p:nvPicPr>
          <p:cNvPr id="19" name="Picture 18" descr="ico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261872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048" y="1700784"/>
            <a:ext cx="12984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INPUT VALIDATION</a:t>
            </a:r>
          </a:p>
          <a:p>
            <a:pPr algn="ctr">
              <a:defRPr sz="650">
                <a:solidFill>
                  <a:srgbClr val="172027"/>
                </a:solidFill>
                <a:latin typeface="Segoe UI"/>
              </a:defRPr>
            </a:pPr>
            <a:r>
              <a:t>CRS · Resolution</a:t>
            </a:r>
            <a:br/>
            <a:r>
              <a:t>IoU Bounding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1554480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76672" y="1005840"/>
            <a:ext cx="138988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76672" y="1042416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27C"/>
                </a:solidFill>
                <a:latin typeface="Segoe UI"/>
              </a:defRPr>
            </a:pPr>
            <a:r>
              <a:t>04</a:t>
            </a:r>
          </a:p>
        </p:txBody>
      </p:sp>
      <p:pic>
        <p:nvPicPr>
          <p:cNvPr id="24" name="Picture 23" descr="ico_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1261872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22392" y="1700784"/>
            <a:ext cx="12984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AGENTIC ROUTER</a:t>
            </a:r>
          </a:p>
          <a:p>
            <a:pPr algn="ctr">
              <a:defRPr sz="650">
                <a:solidFill>
                  <a:srgbClr val="172027"/>
                </a:solidFill>
                <a:latin typeface="Segoe UI"/>
              </a:defRPr>
            </a:pPr>
            <a:r>
              <a:t>Specialist selection</a:t>
            </a:r>
            <a:br/>
            <a:r>
              <a:t>Workflow planning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554480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6016" y="1005840"/>
            <a:ext cx="138988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86016" y="1042416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27C"/>
                </a:solidFill>
                <a:latin typeface="Segoe UI"/>
              </a:defRPr>
            </a:pPr>
            <a:r>
              <a:t>05</a:t>
            </a:r>
          </a:p>
        </p:txBody>
      </p:sp>
      <p:pic>
        <p:nvPicPr>
          <p:cNvPr id="29" name="Picture 28" descr="ico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1261872"/>
            <a:ext cx="402336" cy="4023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31736" y="1700784"/>
            <a:ext cx="12984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SPECIALIST AI</a:t>
            </a:r>
          </a:p>
          <a:p>
            <a:pPr algn="ctr">
              <a:defRPr sz="650">
                <a:solidFill>
                  <a:srgbClr val="172027"/>
                </a:solidFill>
                <a:latin typeface="Segoe UI"/>
              </a:defRPr>
            </a:pPr>
            <a:r>
              <a:t>SegFormer · BLIP-2</a:t>
            </a:r>
            <a:br/>
            <a:r>
              <a:t>CDVQA · Optical-SAR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1554480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1005840"/>
            <a:ext cx="138988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0" y="1042416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27C"/>
                </a:solidFill>
                <a:latin typeface="Segoe UI"/>
              </a:defRPr>
            </a:pPr>
            <a:r>
              <a:t>06</a:t>
            </a:r>
          </a:p>
        </p:txBody>
      </p:sp>
      <p:pic>
        <p:nvPicPr>
          <p:cNvPr id="34" name="Picture 33" descr="ico_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992" y="1261872"/>
            <a:ext cx="402336" cy="40233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41080" y="1700784"/>
            <a:ext cx="12984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EVIDENCE GEN</a:t>
            </a:r>
          </a:p>
          <a:p>
            <a:pPr algn="ctr">
              <a:defRPr sz="650">
                <a:solidFill>
                  <a:srgbClr val="172027"/>
                </a:solidFill>
                <a:latin typeface="Segoe UI"/>
              </a:defRPr>
            </a:pPr>
            <a:r>
              <a:t>Pixel masks · NDVI</a:t>
            </a:r>
            <a:br/>
            <a:r>
              <a:t>Confidence metric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85248" y="1554480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8A83"/>
                </a:solidFill>
              </a:defRPr>
            </a:pPr>
            <a:r>
              <a:t>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04704" y="1005840"/>
            <a:ext cx="138988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04704" y="1042416"/>
            <a:ext cx="13898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64727C"/>
                </a:solidFill>
                <a:latin typeface="Segoe UI"/>
              </a:defRPr>
            </a:pPr>
            <a:r>
              <a:t>07</a:t>
            </a:r>
          </a:p>
        </p:txBody>
      </p:sp>
      <p:pic>
        <p:nvPicPr>
          <p:cNvPr id="39" name="Picture 38" descr="ico_do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9336" y="1261872"/>
            <a:ext cx="402336" cy="402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50424" y="1700784"/>
            <a:ext cx="12984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ACTIONABLE OUTPUT</a:t>
            </a:r>
          </a:p>
          <a:p>
            <a:pPr algn="ctr">
              <a:defRPr sz="650">
                <a:solidFill>
                  <a:srgbClr val="172027"/>
                </a:solidFill>
                <a:latin typeface="Segoe UI"/>
              </a:defRPr>
            </a:pPr>
            <a:r>
              <a:t>PDF / HTML Report</a:t>
            </a:r>
            <a:br/>
            <a:r>
              <a:t>StepTracker audit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2697480"/>
            <a:ext cx="53035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554480" y="2834640"/>
            <a:ext cx="3291840" cy="502920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AGENTIC CONTROLLER &amp; TASK ROUTING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3520440"/>
            <a:ext cx="1554480" cy="26974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58952" y="3611880"/>
            <a:ext cx="1408176" cy="320040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SINGLE IMAGE</a:t>
            </a:r>
          </a:p>
        </p:txBody>
      </p:sp>
      <p:pic>
        <p:nvPicPr>
          <p:cNvPr id="45" name="Picture 44" descr="ico_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872" y="4023360"/>
            <a:ext cx="384048" cy="3840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31520" y="44531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VQA · CAPTION · GROUNDING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" y="4937760"/>
            <a:ext cx="14447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172027"/>
                </a:solidFill>
                <a:latin typeface="Segoe UI"/>
              </a:defRPr>
            </a:pPr>
            <a:r>
              <a:t>• RSVQA high-res adapter</a:t>
            </a:r>
            <a:br/>
            <a:r>
              <a:t>• BLIP-2 scene captioner</a:t>
            </a:r>
            <a:br/>
            <a:r>
              <a:t>• SegFormer-B0 land-cover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04872" y="3520440"/>
            <a:ext cx="1554480" cy="269748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478024" y="3611880"/>
            <a:ext cx="1408176" cy="320040"/>
          </a:xfrm>
          <a:prstGeom prst="roundRect">
            <a:avLst/>
          </a:prstGeom>
          <a:solidFill>
            <a:srgbClr val="148A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BI-TEMPORAL</a:t>
            </a:r>
          </a:p>
        </p:txBody>
      </p:sp>
      <p:pic>
        <p:nvPicPr>
          <p:cNvPr id="50" name="Picture 49" descr="ico_lay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0944" y="4023360"/>
            <a:ext cx="384048" cy="38404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450592" y="44531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148A83"/>
                </a:solidFill>
                <a:latin typeface="Segoe UI"/>
              </a:defRPr>
            </a:pPr>
            <a:r>
              <a:t>CHANGE AI &amp; TRANSITIONS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9736" y="4937760"/>
            <a:ext cx="14447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172027"/>
                </a:solidFill>
                <a:latin typeface="Segoe UI"/>
              </a:defRPr>
            </a:pPr>
            <a:r>
              <a:t>• CDVQA change VQA engine</a:t>
            </a:r>
            <a:br/>
            <a:r>
              <a:t>• LEVIR-CD transition matrix</a:t>
            </a:r>
            <a:br/>
            <a:r>
              <a:t>• Hectare / km² delta metrics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23944" y="3520440"/>
            <a:ext cx="1554480" cy="2697480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3D9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197096" y="3611880"/>
            <a:ext cx="1408176" cy="320040"/>
          </a:xfrm>
          <a:prstGeom prst="roundRect">
            <a:avLst/>
          </a:prstGeom>
          <a:solidFill>
            <a:srgbClr val="3D9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OPTICAL + SAR</a:t>
            </a:r>
          </a:p>
        </p:txBody>
      </p:sp>
      <p:pic>
        <p:nvPicPr>
          <p:cNvPr id="55" name="Picture 54" descr="ico_rad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4023360"/>
            <a:ext cx="384048" cy="3840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169664" y="44531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3D9B65"/>
                </a:solidFill>
                <a:latin typeface="Segoe UI"/>
              </a:defRPr>
            </a:pPr>
            <a:r>
              <a:t>CROSS-MODAL FUSION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78808" y="4937760"/>
            <a:ext cx="14447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172027"/>
                </a:solidFill>
                <a:latin typeface="Segoe UI"/>
              </a:defRPr>
            </a:pPr>
            <a:r>
              <a:t>• Sentinel-1 SAR (VV/VH)</a:t>
            </a:r>
            <a:br/>
            <a:r>
              <a:t>• Sentinel-2 MSI optical bands</a:t>
            </a:r>
            <a:br/>
            <a:r>
              <a:t>• Cloud penetration consensus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0" y="2697480"/>
            <a:ext cx="5608015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 descr="slide3_analysis_cle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816352"/>
            <a:ext cx="5330952" cy="2606040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6172200" y="5532120"/>
            <a:ext cx="1005840" cy="65836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123B5D"/>
                </a:solidFill>
                <a:latin typeface="Segoe UI"/>
              </a:defRPr>
            </a:pPr>
            <a:r>
              <a:t>① Natural Language Query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51192" y="5532120"/>
            <a:ext cx="1005840" cy="65836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148A83"/>
                </a:solidFill>
                <a:latin typeface="Segoe UI"/>
              </a:defRPr>
            </a:pPr>
            <a:r>
              <a:t>② Model Selection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30184" y="5532120"/>
            <a:ext cx="1005840" cy="65836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D9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3D9B65"/>
                </a:solidFill>
                <a:latin typeface="Segoe UI"/>
              </a:defRPr>
            </a:pPr>
            <a:r>
              <a:t>③ Visual Evidence Overlay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09176" y="5532120"/>
            <a:ext cx="1005840" cy="65836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98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E98A3A"/>
                </a:solidFill>
                <a:latin typeface="Segoe UI"/>
              </a:defRPr>
            </a:pPr>
            <a:r>
              <a:t>④ Confidence Metric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488168" y="5532120"/>
            <a:ext cx="1005840" cy="658368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E4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6E45B8"/>
                </a:solidFill>
                <a:latin typeface="Segoe UI"/>
              </a:defRPr>
            </a:pPr>
            <a:r>
              <a:t>⑤ Execution Trace</a:t>
            </a:r>
          </a:p>
        </p:txBody>
      </p:sp>
      <p:sp>
        <p:nvSpPr>
          <p:cNvPr id="66" name="Freeform 14">
            <a:extLst>
              <a:ext uri="{FF2B5EF4-FFF2-40B4-BE49-F238E27FC236}">
                <a16:creationId xmlns:a16="http://schemas.microsoft.com/office/drawing/2014/main" id="{91FF4D6F-B0EC-BF71-4F31-D414D835B801}"/>
              </a:ext>
            </a:extLst>
          </p:cNvPr>
          <p:cNvSpPr/>
          <p:nvPr/>
        </p:nvSpPr>
        <p:spPr>
          <a:xfrm>
            <a:off x="10333703" y="91440"/>
            <a:ext cx="1434920" cy="764945"/>
          </a:xfrm>
          <a:custGeom>
            <a:avLst/>
            <a:gdLst/>
            <a:ahLst/>
            <a:cxnLst/>
            <a:rect l="l" t="t" r="r" b="b"/>
            <a:pathLst>
              <a:path w="4499737" h="2124710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b="1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1828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Team SATQuery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3B5D"/>
                </a:solidFill>
                <a:latin typeface="Segoe UI"/>
              </a:defRPr>
            </a:pPr>
            <a:r>
              <a:t>FEASIBILITY &amp;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27C"/>
                </a:solidFill>
                <a:latin typeface="Segoe UI"/>
              </a:defRPr>
            </a:pPr>
            <a:r>
              <a:t>SATQUERY AI  •  SIH 2026  •  PS 26167  •  ISRO  •  SPACE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20440" cy="384048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TECHNICALLY FEASIBLE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90472"/>
            <a:ext cx="3520440" cy="4270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00200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70432" y="156362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Open Geospatial Stack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Rasterio, GDAL, EPSG:3857/4326 affine coordinate transforms.</a:t>
            </a:r>
          </a:p>
        </p:txBody>
      </p:sp>
      <p:pic>
        <p:nvPicPr>
          <p:cNvPr id="11" name="Picture 10" descr="ico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0604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70432" y="256946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Open Satellite Datasets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Sentinel-1/2 (Copernicus), Landsat-8/9, LandCover.ai benchmarks.</a:t>
            </a:r>
          </a:p>
        </p:txBody>
      </p:sp>
      <p:pic>
        <p:nvPicPr>
          <p:cNvPr id="13" name="Picture 12" descr="ico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611880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432" y="357530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Specialist AI Models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SegFormer-B0, CDVQA, BLIP-2 with remote-sensing domain adapters.</a:t>
            </a:r>
          </a:p>
        </p:txBody>
      </p:sp>
      <p:pic>
        <p:nvPicPr>
          <p:cNvPr id="15" name="Picture 14" descr="ico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17720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432" y="458114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Web-Based Deployment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FastAPI async pipeline + React Leaflet hardware-accelerated viewer.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1051560"/>
            <a:ext cx="3520440" cy="384048"/>
          </a:xfrm>
          <a:prstGeom prst="roundRect">
            <a:avLst/>
          </a:prstGeom>
          <a:solidFill>
            <a:srgbClr val="E9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POTENTIAL CHALLENGES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1490472"/>
            <a:ext cx="3520440" cy="4270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_cloud_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128" y="160020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10328" y="156362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98A3A"/>
                </a:solidFill>
                <a:latin typeface="Segoe UI"/>
              </a:defRPr>
            </a:pPr>
            <a:r>
              <a:t>Optical Image Quality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Cloud occlusion, atmospheric haze, and night-time optical blindness.</a:t>
            </a:r>
          </a:p>
        </p:txBody>
      </p:sp>
      <p:pic>
        <p:nvPicPr>
          <p:cNvPr id="21" name="Picture 20" descr="ico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2606040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10328" y="256946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98A3A"/>
                </a:solidFill>
                <a:latin typeface="Segoe UI"/>
              </a:defRPr>
            </a:pPr>
            <a:r>
              <a:t>Optical-SAR Alignment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Disparate sensor grids, spatial resolutions, and vantage angles.</a:t>
            </a:r>
          </a:p>
        </p:txBody>
      </p:sp>
      <p:pic>
        <p:nvPicPr>
          <p:cNvPr id="23" name="Picture 22" descr="ico_cp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128" y="3611880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10328" y="357530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98A3A"/>
                </a:solidFill>
                <a:latin typeface="Segoe UI"/>
              </a:defRPr>
            </a:pPr>
            <a:r>
              <a:t>Large-Image Computation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Multi-gigabyte GeoTIFF rasters strain memory and inference latency.</a:t>
            </a:r>
          </a:p>
        </p:txBody>
      </p:sp>
      <p:pic>
        <p:nvPicPr>
          <p:cNvPr id="25" name="Picture 24" descr="ico_lock_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3128" y="461772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10328" y="458114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98A3A"/>
                </a:solidFill>
                <a:latin typeface="Segoe UI"/>
              </a:defRPr>
            </a:pPr>
            <a:r>
              <a:t>AI Reliability &amp; Trust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Generic VLMs can hallucinate without spatial grounding verification.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1051560"/>
            <a:ext cx="3520440" cy="384048"/>
          </a:xfrm>
          <a:prstGeom prst="roundRect">
            <a:avLst/>
          </a:prstGeom>
          <a:solidFill>
            <a:srgbClr val="3D9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MITIGATION STRATEGIES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2" y="1490472"/>
            <a:ext cx="3520440" cy="4270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_rad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3024" y="1600200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50224" y="156362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D9B65"/>
                </a:solidFill>
                <a:latin typeface="Segoe UI"/>
              </a:defRPr>
            </a:pPr>
            <a:r>
              <a:t>Complementary SAR Fusion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SAR microwaves penetrate clouds and operate day/night unconditionally.</a:t>
            </a:r>
          </a:p>
        </p:txBody>
      </p:sp>
      <p:pic>
        <p:nvPicPr>
          <p:cNvPr id="31" name="Picture 30" descr="ico_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3024" y="2606040"/>
            <a:ext cx="384048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50224" y="256946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D9B65"/>
                </a:solidFill>
                <a:latin typeface="Segoe UI"/>
              </a:defRPr>
            </a:pPr>
            <a:r>
              <a:t>Validate Spatial Compatibility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InputValidator verifies CRS &amp; IoU bounding box overlap before inference.</a:t>
            </a:r>
          </a:p>
        </p:txBody>
      </p:sp>
      <p:pic>
        <p:nvPicPr>
          <p:cNvPr id="33" name="Picture 32" descr="ico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3611880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50224" y="357530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D9B65"/>
                </a:solidFill>
                <a:latin typeface="Segoe UI"/>
              </a:defRPr>
            </a:pPr>
            <a:r>
              <a:t>Tiling &amp; Patch Processing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Sub-region patch extraction (512x512) and pyramid tiling prevent OOM.</a:t>
            </a:r>
          </a:p>
        </p:txBody>
      </p:sp>
      <p:pic>
        <p:nvPicPr>
          <p:cNvPr id="35" name="Picture 34" descr="ico_ey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3024" y="4617720"/>
            <a:ext cx="384048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50224" y="458114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D9B65"/>
                </a:solidFill>
                <a:latin typeface="Segoe UI"/>
              </a:defRPr>
            </a:pPr>
            <a:r>
              <a:t>Evidence-Grounded Output</a:t>
            </a:r>
          </a:p>
          <a:p>
            <a:pPr>
              <a:defRPr sz="800">
                <a:solidFill>
                  <a:srgbClr val="172027"/>
                </a:solidFill>
                <a:latin typeface="Segoe UI"/>
              </a:defRPr>
            </a:pPr>
            <a:r>
              <a:t>Every response is tethered to pixel masks, spectral indices, &amp; confidence.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97880"/>
            <a:ext cx="11094415" cy="566928"/>
          </a:xfrm>
          <a:prstGeom prst="roundRect">
            <a:avLst/>
          </a:prstGeom>
          <a:solidFill>
            <a:srgbClr val="123B5D"/>
          </a:solidFill>
          <a:ln w="1905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co_targe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5961888"/>
            <a:ext cx="420624" cy="42062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34440" y="59436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E98A3A"/>
                </a:solidFill>
                <a:latin typeface="Segoe UI"/>
              </a:rPr>
              <a:t>BUILDABLE + SCALABLE + AUDITABLE:  </a:t>
            </a:r>
            <a:r>
              <a:rPr sz="1000" b="1">
                <a:solidFill>
                  <a:srgbClr val="FFFFFF"/>
                </a:solidFill>
                <a:latin typeface="Segoe UI"/>
              </a:rPr>
              <a:t>“Make complex multimodal satellite analysis accessible through one intelligent interface.”</a:t>
            </a:r>
          </a:p>
        </p:txBody>
      </p:sp>
      <p:sp>
        <p:nvSpPr>
          <p:cNvPr id="41" name="Freeform 14">
            <a:extLst>
              <a:ext uri="{FF2B5EF4-FFF2-40B4-BE49-F238E27FC236}">
                <a16:creationId xmlns:a16="http://schemas.microsoft.com/office/drawing/2014/main" id="{4AAFCA4B-F5B7-BA1E-DA1A-F6DA65E51626}"/>
              </a:ext>
            </a:extLst>
          </p:cNvPr>
          <p:cNvSpPr/>
          <p:nvPr/>
        </p:nvSpPr>
        <p:spPr>
          <a:xfrm>
            <a:off x="10333703" y="91440"/>
            <a:ext cx="1434920" cy="764945"/>
          </a:xfrm>
          <a:custGeom>
            <a:avLst/>
            <a:gdLst/>
            <a:ahLst/>
            <a:cxnLst/>
            <a:rect l="l" t="t" r="r" b="b"/>
            <a:pathLst>
              <a:path w="4499737" h="2124710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b="1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1828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Team SATQuery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3B5D"/>
                </a:solidFill>
                <a:latin typeface="Segoe UI"/>
              </a:defRPr>
            </a:pPr>
            <a:r>
              <a:t>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27C"/>
                </a:solidFill>
                <a:latin typeface="Segoe UI"/>
              </a:defRPr>
            </a:pPr>
            <a:r>
              <a:t>SATQUERY AI  •  SIH 2026  •  PS 26167  •  ISRO  •  SPACE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63347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2414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23B5D"/>
                </a:solidFill>
                <a:latin typeface="Segoe UI"/>
              </a:defRPr>
            </a:pPr>
            <a:r>
              <a:t>SUPPORTED MODALITIES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99032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B5D"/>
                </a:solidFill>
                <a:latin typeface="Segoe UI"/>
              </a:defRPr>
            </a:pPr>
            <a:r>
              <a:t>SINGLE · BI-TEMPORAL</a:t>
            </a:r>
            <a:br/>
            <a:r>
              <a:t>OPTICAL + SAR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84248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Optical MSI, SAR Radar (VV/VH), Multi-Temporal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051560"/>
            <a:ext cx="263347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143000"/>
            <a:ext cx="2414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48A83"/>
                </a:solidFill>
                <a:latin typeface="Segoe UI"/>
              </a:defRPr>
            </a:pPr>
            <a:r>
              <a:t>SPECIALIST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399032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B5D"/>
                </a:solidFill>
                <a:latin typeface="Segoe UI"/>
              </a:defRPr>
            </a:pPr>
            <a:r>
              <a:t>21 REGISTERED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84248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VQA, SegFormer, CDVQA, Grounding, Spectral Indices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051560"/>
            <a:ext cx="263347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9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1143000"/>
            <a:ext cx="2414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D9B65"/>
                </a:solidFill>
                <a:latin typeface="Segoe UI"/>
              </a:defRPr>
            </a:pPr>
            <a:r>
              <a:t>EVIDENCE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399032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B5D"/>
                </a:solidFill>
                <a:latin typeface="Segoe UI"/>
              </a:defRPr>
            </a:pPr>
            <a:r>
              <a:t>PIXEL MASKS &amp; 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984248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Exact Hectares, km², NDVI, NDWI, NDBI &amp; Confidence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051560"/>
            <a:ext cx="263347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4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07424" y="1143000"/>
            <a:ext cx="2414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E45B8"/>
                </a:solidFill>
                <a:latin typeface="Segoe UI"/>
              </a:defRPr>
            </a:pPr>
            <a:r>
              <a:t>REPORT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1399032"/>
            <a:ext cx="2414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B5D"/>
                </a:solidFill>
                <a:latin typeface="Segoe UI"/>
              </a:defRPr>
            </a:pPr>
            <a:r>
              <a:t>AUDIT-READY DOSSIERS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984248"/>
            <a:ext cx="2414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Dynamic ReportLab PDF &amp; HTML + StepTracker Trace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0604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co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70632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70432" y="2697480"/>
            <a:ext cx="28072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AGRICULTURE</a:t>
            </a:r>
          </a:p>
          <a:p>
            <a:pPr>
              <a:defRPr sz="800" b="1">
                <a:solidFill>
                  <a:srgbClr val="148A83"/>
                </a:solidFill>
                <a:latin typeface="Segoe UI"/>
              </a:defRPr>
            </a:pPr>
            <a:r>
              <a:t>Crop &amp; Vegetation Monitoring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Quantify crop vigor, drought stress &amp; irrigation dynamics.</a:t>
            </a:r>
          </a:p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• 10m Sentinel-2 MSI • NDVI/EVI vigor tracking • Field stress alerts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8536" y="260604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co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770632"/>
            <a:ext cx="402336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10328" y="2697480"/>
            <a:ext cx="28072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WATER RESOURCES</a:t>
            </a:r>
          </a:p>
          <a:p>
            <a:pPr>
              <a:defRPr sz="800" b="1">
                <a:solidFill>
                  <a:srgbClr val="148A83"/>
                </a:solidFill>
                <a:latin typeface="Segoe UI"/>
              </a:defRPr>
            </a:pPr>
            <a:r>
              <a:t>Hydrology &amp; Catchment Basins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Delineate surface water bodies, reservoirs &amp; river morphology.</a:t>
            </a:r>
          </a:p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• Automated NDWI thresholding • Temporal surface retention delta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2" y="2606040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co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2770632"/>
            <a:ext cx="402336" cy="4023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50224" y="2697480"/>
            <a:ext cx="28072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URBAN PLANNING</a:t>
            </a:r>
          </a:p>
          <a:p>
            <a:pPr>
              <a:defRPr sz="800" b="1">
                <a:solidFill>
                  <a:srgbClr val="148A83"/>
                </a:solidFill>
                <a:latin typeface="Segoe UI"/>
              </a:defRPr>
            </a:pPr>
            <a:r>
              <a:t>Built-Up Footprint &amp; Zoning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Track urban sprawl, impervious surfaces &amp; infrastructure growth.</a:t>
            </a:r>
          </a:p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• SegFormer semantic extraction • NDBI built-up indices • Zoning audit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79392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co_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443984"/>
            <a:ext cx="402336" cy="4023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70432" y="4370832"/>
            <a:ext cx="28072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FOREST &amp; ECOLOGY</a:t>
            </a:r>
          </a:p>
          <a:p>
            <a:pPr>
              <a:defRPr sz="800" b="1">
                <a:solidFill>
                  <a:srgbClr val="148A83"/>
                </a:solidFill>
                <a:latin typeface="Segoe UI"/>
              </a:defRPr>
            </a:pPr>
            <a:r>
              <a:t>Biomass &amp; Conservation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Surveil dense forest cover, illegal clearing &amp; coastal buffers.</a:t>
            </a:r>
          </a:p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• Multi-temporal change delta • Coastal CRZ protection monitoring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88536" y="4279392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_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696" y="4443984"/>
            <a:ext cx="402336" cy="40233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10328" y="4370832"/>
            <a:ext cx="28072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DISASTER RESPONSE</a:t>
            </a:r>
          </a:p>
          <a:p>
            <a:pPr>
              <a:defRPr sz="800" b="1">
                <a:solidFill>
                  <a:srgbClr val="148A83"/>
                </a:solidFill>
                <a:latin typeface="Segoe UI"/>
              </a:defRPr>
            </a:pPr>
            <a:r>
              <a:t>All-Weather Flood &amp; Hazards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Rapid damage assessment during cyclones, floods &amp; landslides.</a:t>
            </a:r>
          </a:p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• Sentinel-1 C-band SAR • Pierces cloud cover &amp; night • Hour-zero triage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2" y="4279392"/>
            <a:ext cx="35204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co_s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592" y="4443984"/>
            <a:ext cx="402336" cy="4023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650224" y="4370832"/>
            <a:ext cx="28072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23B5D"/>
                </a:solidFill>
                <a:latin typeface="Segoe UI"/>
              </a:defRPr>
            </a:pPr>
            <a:r>
              <a:t>EARTH OBSERVATION</a:t>
            </a:r>
          </a:p>
          <a:p>
            <a:pPr>
              <a:defRPr sz="800" b="1">
                <a:solidFill>
                  <a:srgbClr val="148A83"/>
                </a:solidFill>
                <a:latin typeface="Segoe UI"/>
              </a:defRPr>
            </a:pPr>
            <a:r>
              <a:t>Sovereign Intelligence &amp; Access</a:t>
            </a:r>
          </a:p>
          <a:p>
            <a:pPr>
              <a:defRPr sz="750">
                <a:solidFill>
                  <a:srgbClr val="172027"/>
                </a:solidFill>
                <a:latin typeface="Segoe UI"/>
              </a:defRPr>
            </a:pPr>
            <a:r>
              <a:t>Democratize complex EO rasters for non-GIS domain specialists.</a:t>
            </a:r>
          </a:p>
          <a:p>
            <a:pPr>
              <a:defRPr sz="700">
                <a:solidFill>
                  <a:srgbClr val="64727C"/>
                </a:solidFill>
                <a:latin typeface="Segoe UI"/>
              </a:defRPr>
            </a:pPr>
            <a:r>
              <a:t>• 21 registered specialist tools • WGS84 &amp; GeoTIFF spatial integrity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943600"/>
            <a:ext cx="11094415" cy="502920"/>
          </a:xfrm>
          <a:prstGeom prst="roundRect">
            <a:avLst/>
          </a:prstGeom>
          <a:solidFill>
            <a:srgbClr val="EDF7F6"/>
          </a:solidFill>
          <a:ln w="1905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9618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SATELLITE DATA (Optical / SAR / Pairs)   ➔   AGENTIC AI   ➔   VISUAL EVIDENCE   ➔   ACTIONABLE INSIGHT   ➔   DECISION SUPPORT</a:t>
            </a:r>
          </a:p>
        </p:txBody>
      </p:sp>
      <p:sp>
        <p:nvSpPr>
          <p:cNvPr id="44" name="Freeform 14">
            <a:extLst>
              <a:ext uri="{FF2B5EF4-FFF2-40B4-BE49-F238E27FC236}">
                <a16:creationId xmlns:a16="http://schemas.microsoft.com/office/drawing/2014/main" id="{C2D3CEE7-3E0B-D012-9643-61345107231F}"/>
              </a:ext>
            </a:extLst>
          </p:cNvPr>
          <p:cNvSpPr/>
          <p:nvPr/>
        </p:nvSpPr>
        <p:spPr>
          <a:xfrm>
            <a:off x="10333703" y="91440"/>
            <a:ext cx="1434920" cy="764945"/>
          </a:xfrm>
          <a:custGeom>
            <a:avLst/>
            <a:gdLst/>
            <a:ahLst/>
            <a:cxnLst/>
            <a:rect l="l" t="t" r="r" b="b"/>
            <a:pathLst>
              <a:path w="4499737" h="2124710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1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182880"/>
            <a:ext cx="16459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B5D"/>
                </a:solidFill>
                <a:latin typeface="Segoe UI"/>
              </a:defRPr>
            </a:pPr>
            <a:r>
              <a:rPr dirty="0"/>
              <a:t>Team </a:t>
            </a:r>
            <a:r>
              <a:rPr dirty="0" err="1"/>
              <a:t>SATQuery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37744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23B5D"/>
                </a:solidFill>
                <a:latin typeface="Segoe UI"/>
              </a:defRPr>
            </a:pPr>
            <a:r>
              <a:t>RESEARCH, BENCHMARKS &amp; TECHNICAL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27C"/>
                </a:solidFill>
                <a:latin typeface="Segoe UI"/>
              </a:defRPr>
            </a:pPr>
            <a:r>
              <a:t>SATQUERY AI  •  SIH 2026  •  PS 26167  •  ISRO  •  SPACE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37960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23B5D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1948" y="886968"/>
            <a:ext cx="5928852" cy="49194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co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7043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115214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B5D"/>
                </a:solidFill>
                <a:latin typeface="Segoe UI"/>
              </a:defRPr>
            </a:pPr>
            <a:r>
              <a:t>RESEARCH FOUNDATIONS &amp; BENCHMARKS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45920"/>
            <a:ext cx="5522976" cy="6217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o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5564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8448" y="16824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23B5D"/>
                </a:solidFill>
                <a:latin typeface="Segoe UI"/>
              </a:rPr>
              <a:t>BigEarthNet — </a:t>
            </a:r>
            <a:r>
              <a:rPr sz="800" b="1">
                <a:solidFill>
                  <a:srgbClr val="148A83"/>
                </a:solidFill>
                <a:latin typeface="Segoe UI"/>
              </a:rPr>
              <a:t>Remote-Sensing Representation Learning</a:t>
            </a:r>
          </a:p>
          <a:p>
            <a:pPr>
              <a:defRPr sz="700">
                <a:solidFill>
                  <a:srgbClr val="172027"/>
                </a:solidFill>
                <a:latin typeface="Segoe UI"/>
              </a:defRPr>
            </a:pPr>
            <a:r>
              <a:t>Sumbul et al., IEEE IGARSS 2019 · Sentinel-2 multispectral band adaptation &amp; land-cover taxonomy.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22576"/>
            <a:ext cx="5522976" cy="6217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co_m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32304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98448" y="23591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23B5D"/>
                </a:solidFill>
                <a:latin typeface="Segoe UI"/>
              </a:rPr>
              <a:t>RSVQA — </a:t>
            </a:r>
            <a:r>
              <a:rPr sz="800" b="1">
                <a:solidFill>
                  <a:srgbClr val="148A83"/>
                </a:solidFill>
                <a:latin typeface="Segoe UI"/>
              </a:rPr>
              <a:t>Remote-Sensing Visual Question Answering</a:t>
            </a:r>
          </a:p>
          <a:p>
            <a:pPr>
              <a:defRPr sz="700">
                <a:solidFill>
                  <a:srgbClr val="172027"/>
                </a:solidFill>
                <a:latin typeface="Segoe UI"/>
              </a:defRPr>
            </a:pPr>
            <a:r>
              <a:t>Lobry et al., IEEE TGRS 2020 · Foundational formulation for spatial counting, presence &amp; relation VQA.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999232"/>
            <a:ext cx="5522976" cy="6217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08960"/>
            <a:ext cx="402336" cy="4023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303580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23B5D"/>
                </a:solidFill>
                <a:latin typeface="Segoe UI"/>
              </a:rPr>
              <a:t>VRSBench — </a:t>
            </a:r>
            <a:r>
              <a:rPr sz="800" b="1">
                <a:solidFill>
                  <a:srgbClr val="148A83"/>
                </a:solidFill>
                <a:latin typeface="Segoe UI"/>
              </a:rPr>
              <a:t>Vision-Language Grounding &amp; Captioning</a:t>
            </a:r>
          </a:p>
          <a:p>
            <a:pPr>
              <a:defRPr sz="700">
                <a:solidFill>
                  <a:srgbClr val="172027"/>
                </a:solidFill>
                <a:latin typeface="Segoe UI"/>
              </a:defRPr>
            </a:pPr>
            <a:r>
              <a:t>Li et al., NeurIPS / IEEE 2024 · Evaluation benchmark for text-guided visual region reticles.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675888"/>
            <a:ext cx="5522976" cy="6217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85616"/>
            <a:ext cx="402336" cy="4023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98448" y="371246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23B5D"/>
                </a:solidFill>
                <a:latin typeface="Segoe UI"/>
              </a:rPr>
              <a:t>CDVQA — </a:t>
            </a:r>
            <a:r>
              <a:rPr sz="800" b="1">
                <a:solidFill>
                  <a:srgbClr val="148A83"/>
                </a:solidFill>
                <a:latin typeface="Segoe UI"/>
              </a:rPr>
              <a:t>Bi-Temporal Change Detection VQA</a:t>
            </a:r>
          </a:p>
          <a:p>
            <a:pPr>
              <a:defRPr sz="700">
                <a:solidFill>
                  <a:srgbClr val="172027"/>
                </a:solidFill>
                <a:latin typeface="Segoe UI"/>
              </a:defRPr>
            </a:pPr>
            <a:r>
              <a:t>Yuan et al., IEEE GRSL 2022 · Informs change reasoning and quantitative transition matrix extraction.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352544"/>
            <a:ext cx="5522976" cy="6217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_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462272"/>
            <a:ext cx="402336" cy="4023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98448" y="4389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23B5D"/>
                </a:solidFill>
                <a:latin typeface="Segoe UI"/>
              </a:rPr>
              <a:t>SegFormer — </a:t>
            </a:r>
            <a:r>
              <a:rPr sz="800" b="1">
                <a:solidFill>
                  <a:srgbClr val="148A83"/>
                </a:solidFill>
                <a:latin typeface="Segoe UI"/>
              </a:rPr>
              <a:t>Semantic Transformer Segmentation</a:t>
            </a:r>
          </a:p>
          <a:p>
            <a:pPr>
              <a:defRPr sz="700">
                <a:solidFill>
                  <a:srgbClr val="172027"/>
                </a:solidFill>
                <a:latin typeface="Segoe UI"/>
              </a:defRPr>
            </a:pPr>
            <a:r>
              <a:t>Xie et al., NeurIPS 2021 · Core neural backbone powering 6-class land cover segmentation on LandCover.ai.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029200"/>
            <a:ext cx="5522976" cy="6217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co_ra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138928"/>
            <a:ext cx="402336" cy="4023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98448" y="506577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23B5D"/>
                </a:solidFill>
                <a:latin typeface="Segoe UI"/>
              </a:rPr>
              <a:t>SEN1-2 — </a:t>
            </a:r>
            <a:r>
              <a:rPr sz="800" b="1">
                <a:solidFill>
                  <a:srgbClr val="148A83"/>
                </a:solidFill>
                <a:latin typeface="Segoe UI"/>
              </a:rPr>
              <a:t>Optical-SAR Multimodal Learning</a:t>
            </a:r>
          </a:p>
          <a:p>
            <a:pPr>
              <a:defRPr sz="700">
                <a:solidFill>
                  <a:srgbClr val="172027"/>
                </a:solidFill>
                <a:latin typeface="Segoe UI"/>
              </a:defRPr>
            </a:pPr>
            <a:r>
              <a:t>Schmitt et al., ISPRS Annals 2018 · Spatial co-registration &amp; cross-spectral feature fusion standards.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65392" y="947825"/>
            <a:ext cx="5077663" cy="48586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_n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1170432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23760" y="1152144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8A83"/>
                </a:solidFill>
                <a:latin typeface="Segoe UI"/>
              </a:defRPr>
            </a:pPr>
            <a:r>
              <a:t>HOW RESEARCH SUPPORTS SATQUERY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48272" y="1645920"/>
            <a:ext cx="4709160" cy="50292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_glob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9712" y="1719072"/>
            <a:ext cx="347472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1719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23B5D"/>
                </a:solidFill>
                <a:latin typeface="Segoe UI"/>
              </a:rPr>
              <a:t>BigEarthNet   ➔   </a:t>
            </a:r>
            <a:r>
              <a:rPr sz="800">
                <a:solidFill>
                  <a:srgbClr val="172027"/>
                </a:solidFill>
                <a:latin typeface="Segoe UI"/>
              </a:rPr>
              <a:t>Remote Sensing Adaptation Layer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48272" y="2203704"/>
            <a:ext cx="4709160" cy="50292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co_m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276856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69480" y="227685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48A83"/>
                </a:solidFill>
                <a:latin typeface="Segoe UI"/>
              </a:rPr>
              <a:t>RSVQA   ➔   </a:t>
            </a:r>
            <a:r>
              <a:rPr sz="800">
                <a:solidFill>
                  <a:srgbClr val="172027"/>
                </a:solidFill>
                <a:latin typeface="Segoe UI"/>
              </a:rPr>
              <a:t>Visual Question Answering (VQA) Module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48272" y="2761488"/>
            <a:ext cx="4709160" cy="50292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co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2834640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6948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23B5D"/>
                </a:solidFill>
                <a:latin typeface="Segoe UI"/>
              </a:rPr>
              <a:t>VRSBench   ➔   </a:t>
            </a:r>
            <a:r>
              <a:rPr sz="800">
                <a:solidFill>
                  <a:srgbClr val="172027"/>
                </a:solidFill>
                <a:latin typeface="Segoe UI"/>
              </a:rPr>
              <a:t>Region Grounding &amp; Scene Captioning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48272" y="3319272"/>
            <a:ext cx="4709160" cy="50292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6E4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co_lay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9712" y="3392424"/>
            <a:ext cx="347472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269480" y="3392424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E45B8"/>
                </a:solidFill>
                <a:latin typeface="Segoe UI"/>
              </a:rPr>
              <a:t>CDVQA   ➔   </a:t>
            </a:r>
            <a:r>
              <a:rPr sz="800">
                <a:solidFill>
                  <a:srgbClr val="172027"/>
                </a:solidFill>
                <a:latin typeface="Segoe UI"/>
              </a:rPr>
              <a:t>Bi-Temporal Change Detection Engine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48272" y="3877056"/>
            <a:ext cx="4709160" cy="50292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3D9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co_ra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3950208"/>
            <a:ext cx="347472" cy="3474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69480" y="395020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3D9B65"/>
                </a:solidFill>
                <a:latin typeface="Segoe UI"/>
              </a:rPr>
              <a:t>SEN1-2   ➔   </a:t>
            </a:r>
            <a:r>
              <a:rPr sz="800">
                <a:solidFill>
                  <a:srgbClr val="172027"/>
                </a:solidFill>
                <a:latin typeface="Segoe UI"/>
              </a:rPr>
              <a:t>Optical + SAR Cross-Modal Fusion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48272" y="4434840"/>
            <a:ext cx="4709160" cy="502920"/>
          </a:xfrm>
          <a:prstGeom prst="roundRect">
            <a:avLst/>
          </a:prstGeom>
          <a:solidFill>
            <a:srgbClr val="EDF7F6"/>
          </a:solidFill>
          <a:ln w="12700">
            <a:solidFill>
              <a:srgbClr val="E98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co_shiel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9712" y="4507992"/>
            <a:ext cx="347472" cy="3474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269480" y="450799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E98A3A"/>
                </a:solidFill>
                <a:latin typeface="Segoe UI"/>
              </a:rPr>
              <a:t>Indian Space Policy 2023   ➔   </a:t>
            </a:r>
            <a:r>
              <a:rPr sz="800">
                <a:solidFill>
                  <a:srgbClr val="172027"/>
                </a:solidFill>
                <a:latin typeface="Segoe UI"/>
              </a:rPr>
              <a:t>Democratization of EO Data for Non-GIS Users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5074920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64727C"/>
                </a:solidFill>
                <a:latin typeface="Segoe UI"/>
              </a:defRPr>
            </a:pPr>
            <a:r>
              <a:t>🏛 ISRO Bhuvan &amp; NRSC Compatibility: Adheres to OGC standards, WGS84 (EPSG:4326), Web Mercator (EPSG:3857) and GeoTIFF specifications for interoperable national infrastructure.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943600"/>
            <a:ext cx="11094415" cy="502920"/>
          </a:xfrm>
          <a:prstGeom prst="roundRect">
            <a:avLst/>
          </a:prstGeom>
          <a:solidFill>
            <a:srgbClr val="123B5D"/>
          </a:solidFill>
          <a:ln w="19050">
            <a:solidFill>
              <a:srgbClr val="148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596188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RESEARCH  ➔  MODELS  ➔  AGENTIC ORCHESTRATION  ➔  EVIDENCE  ➔  APPLICATION</a:t>
            </a:r>
          </a:p>
        </p:txBody>
      </p:sp>
      <p:sp>
        <p:nvSpPr>
          <p:cNvPr id="53" name="Freeform 14">
            <a:extLst>
              <a:ext uri="{FF2B5EF4-FFF2-40B4-BE49-F238E27FC236}">
                <a16:creationId xmlns:a16="http://schemas.microsoft.com/office/drawing/2014/main" id="{0D939D27-9681-8F9A-98CE-AAC247B324D6}"/>
              </a:ext>
            </a:extLst>
          </p:cNvPr>
          <p:cNvSpPr/>
          <p:nvPr/>
        </p:nvSpPr>
        <p:spPr>
          <a:xfrm>
            <a:off x="10333703" y="91440"/>
            <a:ext cx="1434920" cy="764945"/>
          </a:xfrm>
          <a:custGeom>
            <a:avLst/>
            <a:gdLst/>
            <a:ahLst/>
            <a:cxnLst/>
            <a:rect l="l" t="t" r="r" b="b"/>
            <a:pathLst>
              <a:path w="4499737" h="2124710">
                <a:moveTo>
                  <a:pt x="0" y="0"/>
                </a:moveTo>
                <a:lnTo>
                  <a:pt x="4499737" y="0"/>
                </a:lnTo>
                <a:lnTo>
                  <a:pt x="4499737" y="2124710"/>
                </a:lnTo>
                <a:lnTo>
                  <a:pt x="0" y="21247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b="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1261</Words>
  <Application>Microsoft Office PowerPoint</Application>
  <PresentationFormat>Widescreen</PresentationFormat>
  <Paragraphs>214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Bold</vt:lpstr>
      <vt:lpstr>Calibri</vt:lpstr>
      <vt:lpstr>Garamond Bold</vt:lpstr>
      <vt:lpstr>Segoe UI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My Pc</cp:lastModifiedBy>
  <cp:revision>2</cp:revision>
  <dcterms:created xsi:type="dcterms:W3CDTF">2013-01-27T09:14:16Z</dcterms:created>
  <dcterms:modified xsi:type="dcterms:W3CDTF">2026-09-11T04:37:04Z</dcterms:modified>
  <cp:category/>
</cp:coreProperties>
</file>